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DM Sans" pitchFamily="2" charset="0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362450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1619250"/>
            <a:ext cx="5163273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8BDF8"/>
                </a:solidFill>
                <a:latin typeface="Times New Roman" panose="02020603050405020304" pitchFamily="18" charset="0"/>
              </a:rPr>
              <a:t>TON DUC THANG UNIVERSITY • FACULTY OF INFORMATION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962150"/>
            <a:ext cx="8701087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 u="none" dirty="0">
                <a:solidFill>
                  <a:srgbClr val="F8FAFC"/>
                </a:solidFill>
                <a:latin typeface="Times New Roman" panose="02020603050405020304" pitchFamily="18" charset="0"/>
              </a:rPr>
              <a:t>Mobile Sensor Architecture &amp; Research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505200"/>
            <a:ext cx="69532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94A3B8"/>
                </a:solidFill>
                <a:latin typeface="DM Sans"/>
              </a:rPr>
              <a:t>Reactive hardware telemetry, lifecycle safety, and threshold calibration in Jetpack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705350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2E8F0"/>
                </a:solidFill>
                <a:latin typeface="DM Sans"/>
              </a:rPr>
              <a:t>Authors:</a:t>
            </a:r>
            <a:r>
              <a:rPr sz="1350" b="0" i="0" u="none">
                <a:solidFill>
                  <a:srgbClr val="E2E8F0"/>
                </a:solidFill>
                <a:latin typeface="DM Sans"/>
              </a:rPr>
              <a:t> Huỳnh Trung Tín (524K0033) &amp; Trần Minh Nghĩa (524K0032)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010150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4A3B8"/>
                </a:solidFill>
                <a:latin typeface="DM Sans"/>
              </a:rPr>
              <a:t>Advisor:</a:t>
            </a:r>
            <a:r>
              <a:rPr sz="1350" b="0" i="0" u="none">
                <a:solidFill>
                  <a:srgbClr val="94A3B8"/>
                </a:solidFill>
                <a:latin typeface="DM Sans"/>
              </a:rPr>
              <a:t> Mr. Dương Hữu Phước • Mobile Apps Development (2026)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71787"/>
            <a:ext cx="3479750" cy="1971675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56050" y="2871787"/>
            <a:ext cx="3479750" cy="1971675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2871787"/>
            <a:ext cx="3479750" cy="1971675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86112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375" y="3186112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825" y="3186112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26156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2563EB"/>
                </a:solidFill>
                <a:latin typeface="Times New Roman" panose="02020603050405020304" pitchFamily="18" charset="0"/>
              </a:rPr>
              <a:t>01 / PROJECT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338881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Core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43312"/>
            <a:ext cx="176362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Motion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052887"/>
            <a:ext cx="29463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DM Sans"/>
              </a:rPr>
              <a:t>Tri-axial accelerometer shake detection.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0375" y="3643312"/>
            <a:ext cx="176971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Ambient Light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0375" y="4052887"/>
            <a:ext cx="29463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DM Sans"/>
              </a:rPr>
              <a:t>Lux-driven adaptive color interpolation.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6825" y="3643312"/>
            <a:ext cx="173368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Velocity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6825" y="4052887"/>
            <a:ext cx="29463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DM Sans"/>
              </a:rPr>
              <a:t>Permission-safe GPS speed telemetry.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86075"/>
            <a:ext cx="2307431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98056" y="3000375"/>
            <a:ext cx="2307431" cy="1714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86512" y="3000375"/>
            <a:ext cx="2307431" cy="1714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74968" y="3000375"/>
            <a:ext cx="2307431" cy="1714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531" y="3743325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7" y="3743325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443" y="3743325"/>
            <a:ext cx="200025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82902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2563EB"/>
                </a:solidFill>
                <a:latin typeface="Times New Roman" panose="02020603050405020304" pitchFamily="18" charset="0"/>
              </a:rPr>
              <a:t>02 / 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322287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Reactive Sensor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162300"/>
            <a:ext cx="71070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2563EB"/>
                </a:solidFill>
                <a:latin typeface="Times New Roman" panose="02020603050405020304" pitchFamily="18" charset="0"/>
              </a:rP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524250"/>
            <a:ext cx="1520609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Hardware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867150"/>
            <a:ext cx="1926431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SensorManager &amp; FusedLocation callbacks.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6181" y="3276600"/>
            <a:ext cx="71070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2563EB"/>
                </a:solidFill>
                <a:latin typeface="Times New Roman" panose="02020603050405020304" pitchFamily="18" charset="0"/>
              </a:rPr>
              <a:t>STEP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6181" y="3638550"/>
            <a:ext cx="1396216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Lifecycle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6181" y="3981450"/>
            <a:ext cx="19264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DisposableEffect binds active listeners.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4637" y="3276600"/>
            <a:ext cx="71070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2563EB"/>
                </a:solidFill>
                <a:latin typeface="Times New Roman" panose="02020603050405020304" pitchFamily="18" charset="0"/>
              </a:rPr>
              <a:t>STEP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4637" y="3638550"/>
            <a:ext cx="1166345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State Stream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4637" y="3981450"/>
            <a:ext cx="19264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MutableState emits real-time values.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13093" y="3276600"/>
            <a:ext cx="71070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D97706"/>
                </a:solidFill>
                <a:latin typeface="Times New Roman" panose="02020603050405020304" pitchFamily="18" charset="0"/>
              </a:rPr>
              <a:t>STEP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3093" y="3638550"/>
            <a:ext cx="1120500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Compose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3093" y="3981450"/>
            <a:ext cx="19264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Scoped Material 3 card recomposition.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80335" y="2490787"/>
            <a:ext cx="5802064" cy="2733675"/>
          </a:xfrm>
          <a:prstGeom prst="roundRect">
            <a:avLst>
              <a:gd name="adj" fmla="val 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95085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2563EB"/>
                </a:solidFill>
                <a:latin typeface="Times New Roman" panose="02020603050405020304" pitchFamily="18" charset="0"/>
              </a:rPr>
              <a:t>03 / RESOURCE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335912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Lifecycle Resource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47035" y="2757487"/>
            <a:ext cx="5363914" cy="2369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</a:rPr>
              <a:t>DisposableEffect</a:t>
            </a:r>
            <a:r>
              <a:rPr lang="en-US" sz="1400" dirty="0">
                <a:solidFill>
                  <a:schemeClr val="bg1"/>
                </a:solidFill>
              </a:rPr>
              <a:t>(context) {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</a:t>
            </a:r>
            <a:r>
              <a:rPr lang="en-US" sz="1400" dirty="0" err="1">
                <a:solidFill>
                  <a:schemeClr val="bg1"/>
                </a:solidFill>
              </a:rPr>
              <a:t>val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sensorManager</a:t>
            </a:r>
            <a:r>
              <a:rPr lang="en-US" sz="1400" dirty="0">
                <a:solidFill>
                  <a:schemeClr val="bg1"/>
                </a:solidFill>
              </a:rPr>
              <a:t> = </a:t>
            </a:r>
            <a:r>
              <a:rPr lang="en-US" sz="1400" dirty="0" err="1">
                <a:solidFill>
                  <a:schemeClr val="bg1"/>
                </a:solidFill>
              </a:rPr>
              <a:t>context.getSystemService</a:t>
            </a:r>
            <a:r>
              <a:rPr lang="en-US" sz="1400" dirty="0">
                <a:solidFill>
                  <a:schemeClr val="bg1"/>
                </a:solidFill>
              </a:rPr>
              <a:t>(...)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</a:t>
            </a:r>
            <a:r>
              <a:rPr lang="en-US" sz="1400" dirty="0" err="1">
                <a:solidFill>
                  <a:schemeClr val="bg1"/>
                </a:solidFill>
              </a:rPr>
              <a:t>val</a:t>
            </a:r>
            <a:r>
              <a:rPr lang="en-US" sz="1400" dirty="0">
                <a:solidFill>
                  <a:schemeClr val="bg1"/>
                </a:solidFill>
              </a:rPr>
              <a:t> light = </a:t>
            </a:r>
            <a:r>
              <a:rPr lang="en-US" sz="1400" dirty="0" err="1">
                <a:solidFill>
                  <a:schemeClr val="bg1"/>
                </a:solidFill>
              </a:rPr>
              <a:t>sensorManager.getDefaultSensor</a:t>
            </a:r>
            <a:r>
              <a:rPr lang="en-US" sz="1400" dirty="0">
                <a:solidFill>
                  <a:schemeClr val="bg1"/>
                </a:solidFill>
              </a:rPr>
              <a:t>(TYPE_LIGHT)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  </a:t>
            </a:r>
            <a:r>
              <a:rPr lang="en-US" sz="1400" dirty="0" err="1">
                <a:solidFill>
                  <a:schemeClr val="bg1"/>
                </a:solidFill>
              </a:rPr>
              <a:t>sensorManager.registerListener</a:t>
            </a:r>
            <a:r>
              <a:rPr lang="en-US" sz="1400" dirty="0">
                <a:solidFill>
                  <a:schemeClr val="bg1"/>
                </a:solidFill>
              </a:rPr>
              <a:t>(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listener, light, </a:t>
            </a:r>
            <a:r>
              <a:rPr lang="en-US" sz="1400" dirty="0" err="1">
                <a:solidFill>
                  <a:schemeClr val="bg1"/>
                </a:solidFill>
              </a:rPr>
              <a:t>SensorManager.SENSOR_DELAY_UI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  )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</a:t>
            </a:r>
            <a:r>
              <a:rPr lang="en-US" sz="1400" dirty="0" err="1">
                <a:solidFill>
                  <a:schemeClr val="bg1"/>
                </a:solidFill>
              </a:rPr>
              <a:t>onDispose</a:t>
            </a:r>
            <a:r>
              <a:rPr lang="en-US" sz="1400" dirty="0">
                <a:solidFill>
                  <a:schemeClr val="bg1"/>
                </a:solidFill>
              </a:rPr>
              <a:t> {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</a:t>
            </a:r>
            <a:r>
              <a:rPr lang="en-US" sz="1400" dirty="0" err="1">
                <a:solidFill>
                  <a:schemeClr val="bg1"/>
                </a:solidFill>
              </a:rPr>
              <a:t>sensorManager.unregisterListener</a:t>
            </a:r>
            <a:r>
              <a:rPr lang="en-US" sz="1400" dirty="0">
                <a:solidFill>
                  <a:schemeClr val="bg1"/>
                </a:solidFill>
              </a:rPr>
              <a:t>(listener)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}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5527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581275"/>
            <a:ext cx="4656385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Scoped Registration:</a:t>
            </a:r>
            <a:r>
              <a:rPr sz="1500" b="0" i="0" u="none">
                <a:solidFill>
                  <a:srgbClr val="0F172A"/>
                </a:solidFill>
                <a:latin typeface="DM Sans"/>
              </a:rPr>
              <a:t> Attaches sensor callbacks on composition entry.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2385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267075"/>
            <a:ext cx="4656385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Automatic Cleanup:</a:t>
            </a:r>
            <a:r>
              <a:rPr sz="1500" b="0" i="0" u="none">
                <a:solidFill>
                  <a:srgbClr val="0F172A"/>
                </a:solidFill>
                <a:latin typeface="DM Sans"/>
              </a:rPr>
              <a:t> Unregisters listeners inside onDispose block.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9243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952875"/>
            <a:ext cx="4656385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Leak Prevention:</a:t>
            </a:r>
            <a:r>
              <a:rPr sz="1500" b="0" i="0" u="none">
                <a:solidFill>
                  <a:srgbClr val="0F172A"/>
                </a:solidFill>
                <a:latin typeface="DM Sans"/>
              </a:rPr>
              <a:t> Stops background battery drain upon exit.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46101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638675"/>
            <a:ext cx="4656385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UI Polling Rate:</a:t>
            </a:r>
            <a:r>
              <a:rPr sz="1500" b="0" i="0" u="none">
                <a:solidFill>
                  <a:srgbClr val="0F172A"/>
                </a:solidFill>
                <a:latin typeface="DM Sans"/>
              </a:rPr>
              <a:t> Samples hardware via SENSOR_DELAY_UI constant.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14450"/>
            <a:ext cx="10972800" cy="5086350"/>
          </a:xfrm>
          <a:prstGeom prst="roundRect">
            <a:avLst>
              <a:gd name="adj" fmla="val 29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844" y="3114823"/>
            <a:ext cx="6018162" cy="637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62223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2563EB"/>
                </a:solidFill>
                <a:latin typeface="Times New Roman" panose="02020603050405020304" pitchFamily="18" charset="0"/>
              </a:rPr>
              <a:t>04 / MOTION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341240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Tri-Axial Shake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85728" y="4019252"/>
            <a:ext cx="602549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DM Sans"/>
              </a:rPr>
              <a:t>Normalized against Earth gravity (g ≈ 9.81 m/s²)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2250" y="4371677"/>
            <a:ext cx="8334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Exceeding 2.5g triggers AnimatedVisibility banner with 500ms coroutine auto-reset.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38412"/>
            <a:ext cx="10972800" cy="26384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538412"/>
          <a:ext cx="10963274" cy="2638425"/>
        </p:xfrm>
        <a:graphic>
          <a:graphicData uri="http://schemas.openxmlformats.org/drawingml/2006/table">
            <a:tbl>
              <a:tblPr/>
              <a:tblGrid>
                <a:gridCol w="2593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0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8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9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2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9606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</a:rPr>
                        <a:t>Lighting Environment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</a:rPr>
                        <a:t>Sensor Threshold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</a:rPr>
                        <a:t>Target Surface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</a:rPr>
                        <a:t>Text Contrast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</a:rPr>
                        <a:t>Animation Spec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606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DM Sans"/>
                        </a:rPr>
                        <a:t>Dark Environment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 dirty="0">
                          <a:solidFill>
                            <a:srgbClr val="2563EB"/>
                          </a:solidFill>
                          <a:latin typeface="Times New Roman" panose="02020603050405020304" pitchFamily="18" charset="0"/>
                        </a:rPr>
                        <a:t>&lt; 50 lx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 dirty="0">
                          <a:solidFill>
                            <a:srgbClr val="1E293B"/>
                          </a:solidFill>
                          <a:latin typeface="Times New Roman" panose="02020603050405020304" pitchFamily="18" charset="0"/>
                        </a:rPr>
                        <a:t>#121212 (Dark)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DM Sans"/>
                        </a:rPr>
                        <a:t>White Foreground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DM Sans"/>
                        </a:rPr>
                        <a:t>1000ms Tween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606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DM Sans"/>
                        </a:rPr>
                        <a:t>Standard Indoor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 dirty="0">
                          <a:solidFill>
                            <a:srgbClr val="2563EB"/>
                          </a:solidFill>
                          <a:latin typeface="Times New Roman" panose="02020603050405020304" pitchFamily="18" charset="0"/>
                        </a:rPr>
                        <a:t>50 – 1000 lx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 dirty="0">
                          <a:solidFill>
                            <a:srgbClr val="1E293B"/>
                          </a:solidFill>
                          <a:latin typeface="Times New Roman" panose="02020603050405020304" pitchFamily="18" charset="0"/>
                        </a:rPr>
                        <a:t>Theme Default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DM Sans"/>
                        </a:rPr>
                        <a:t>Black Foreground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DM Sans"/>
                        </a:rPr>
                        <a:t>1000ms Tween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607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DM Sans"/>
                        </a:rPr>
                        <a:t>Bright Sunlight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 dirty="0">
                          <a:solidFill>
                            <a:srgbClr val="D97706"/>
                          </a:solidFill>
                          <a:latin typeface="Times New Roman" panose="02020603050405020304" pitchFamily="18" charset="0"/>
                        </a:rPr>
                        <a:t>&gt; 1000 lx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 dirty="0">
                          <a:solidFill>
                            <a:srgbClr val="1E293B"/>
                          </a:solidFill>
                          <a:latin typeface="Times New Roman" panose="02020603050405020304" pitchFamily="18" charset="0"/>
                        </a:rPr>
                        <a:t>#FFF9C4 (Warm)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DM Sans"/>
                        </a:rPr>
                        <a:t>Black Foreground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DM Sans"/>
                        </a:rPr>
                        <a:t>1000ms Tween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206947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2563EB"/>
                </a:solidFill>
                <a:latin typeface="Times New Roman" panose="02020603050405020304" pitchFamily="18" charset="0"/>
              </a:rPr>
              <a:t>05 / ENVIRONMENTAL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419268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Ambient Light Theme Mapping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71750"/>
            <a:ext cx="5314950" cy="2571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452687"/>
            <a:ext cx="5314950" cy="2809875"/>
          </a:xfrm>
          <a:prstGeom prst="roundRect">
            <a:avLst>
              <a:gd name="adj" fmla="val 406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62544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2563EB"/>
                </a:solidFill>
                <a:latin typeface="Times New Roman" panose="02020603050405020304" pitchFamily="18" charset="0"/>
              </a:rPr>
              <a:t>06 / SPATIAL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375102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Location &amp; Permission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2886075"/>
            <a:ext cx="253915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2563EB"/>
                </a:solidFill>
                <a:latin typeface="Times New Roman" panose="02020603050405020304" pitchFamily="18" charset="0"/>
              </a:rPr>
              <a:t>Permission Granted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2767012"/>
            <a:ext cx="275716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D97706"/>
                </a:solidFill>
                <a:latin typeface="Times New Roman" panose="02020603050405020304" pitchFamily="18" charset="0"/>
              </a:rPr>
              <a:t>Permission Denied Fallback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5850" y="3343275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371850"/>
            <a:ext cx="4552950" cy="4762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High Accuracy: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Polls FusedLocationProvider every 2000ms.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3952875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981450"/>
            <a:ext cx="4552950" cy="4762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Fastest Interval: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Caps minimum update floor at 1000ms.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4562475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4591050"/>
            <a:ext cx="5572125" cy="23812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Live Velocity: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Streams real-time speed in m/s.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3700" y="3224212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3252787"/>
            <a:ext cx="4552950" cy="4762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Fallback Card: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Renders LocationPermissionCard UI prompt.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3700" y="3833812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0375" y="3862387"/>
            <a:ext cx="4552950" cy="4762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Zero Crashes: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Bypasses location client registration safely.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3700" y="4443412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0375" y="4471987"/>
            <a:ext cx="4552950" cy="4762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Dual Scope: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Accepts Fine or Coarse permission grants.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405312"/>
            <a:ext cx="6858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414587"/>
            <a:ext cx="94416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2563EB"/>
                </a:solidFill>
                <a:latin typeface="Times New Roman" panose="02020603050405020304" pitchFamily="18" charset="0"/>
              </a:rPr>
              <a:t>CHAPTER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28912"/>
            <a:ext cx="7912422" cy="6001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900" b="1" i="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Experimental Findings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548062"/>
            <a:ext cx="65722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DM Sans"/>
              </a:rPr>
              <a:t>Empirical testing of UI frame stability, runtime permission resilience, and accelerometer noise calibration.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66875"/>
            <a:ext cx="4944367" cy="4381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828800"/>
            <a:ext cx="4620517" cy="405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202940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2563EB"/>
                </a:solidFill>
                <a:latin typeface="Times New Roman" panose="02020603050405020304" pitchFamily="18" charset="0"/>
              </a:rPr>
              <a:t>07 / EXPERIMENTAL FINDING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387606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Finding 1: UI Responsiveness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892" y="25527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DM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63567" y="2581275"/>
            <a:ext cx="5514082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Scoped Recomposition:</a:t>
            </a:r>
            <a:r>
              <a:rPr sz="1500" b="0" i="0" u="none">
                <a:solidFill>
                  <a:srgbClr val="0F172A"/>
                </a:solidFill>
                <a:latin typeface="DM Sans"/>
              </a:rPr>
              <a:t> High-frequency streams update only telemetry cards.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892" y="32385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3567" y="3267075"/>
            <a:ext cx="5514082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Static Isolation:</a:t>
            </a:r>
            <a:r>
              <a:rPr sz="1500" b="0" i="0" u="none">
                <a:solidFill>
                  <a:srgbClr val="0F172A"/>
                </a:solidFill>
                <a:latin typeface="DM Sans"/>
              </a:rPr>
              <a:t> Educational PPG and compass cards skip redraws.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892" y="39243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3567" y="3952875"/>
            <a:ext cx="5514082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Smooth Interpolation:</a:t>
            </a:r>
            <a:r>
              <a:rPr sz="1500" b="0" i="0" u="none">
                <a:solidFill>
                  <a:srgbClr val="0F172A"/>
                </a:solidFill>
                <a:latin typeface="DM Sans"/>
              </a:rPr>
              <a:t> animateColorAsState blends themes without frame drops.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892" y="46101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567" y="4638675"/>
            <a:ext cx="5514082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Concurrent Streams:</a:t>
            </a:r>
            <a:r>
              <a:rPr sz="1500" b="0" i="0" u="none">
                <a:solidFill>
                  <a:srgbClr val="0F172A"/>
                </a:solidFill>
                <a:latin typeface="DM Sans"/>
              </a:rPr>
              <a:t> Simultaneous light and motion events render fluidly.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202940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2563EB"/>
                </a:solidFill>
                <a:latin typeface="Times New Roman" panose="02020603050405020304" pitchFamily="18" charset="0"/>
              </a:rPr>
              <a:t>08 / EXPERIMENTAL FINDING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525631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Finding 2: Shake Threshold Calibration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48758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2563EB"/>
                </a:solidFill>
                <a:latin typeface="Times New Roman" panose="02020603050405020304" pitchFamily="18" charset="0"/>
              </a:rPr>
              <a:t>09 / KEY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366183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Verified System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2591" y="3290887"/>
            <a:ext cx="1077218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rgbClr val="2563EB"/>
                </a:solidFill>
                <a:latin typeface="Times New Roman" panose="02020603050405020304" pitchFamily="18" charset="0"/>
              </a:rPr>
              <a:t>2.5g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700" y="4186237"/>
            <a:ext cx="34290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0" i="0" u="none">
                <a:solidFill>
                  <a:srgbClr val="475569"/>
                </a:solidFill>
                <a:latin typeface="DM Sans"/>
              </a:rPr>
              <a:t>Calibrated Shake 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831" y="3290887"/>
            <a:ext cx="1675138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500ms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9900" y="4186237"/>
            <a:ext cx="34290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0" i="0" u="none">
                <a:solidFill>
                  <a:srgbClr val="475569"/>
                </a:solidFill>
                <a:latin typeface="DM Sans"/>
              </a:rPr>
              <a:t>Shake Banner Auto-Reset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6143" y="3290887"/>
            <a:ext cx="1982914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rgbClr val="D97706"/>
                </a:solidFill>
                <a:latin typeface="Times New Roman" panose="02020603050405020304" pitchFamily="18" charset="0"/>
              </a:rPr>
              <a:t>1000ms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53100" y="4186237"/>
            <a:ext cx="34290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0" i="0" u="none">
                <a:solidFill>
                  <a:srgbClr val="475569"/>
                </a:solidFill>
                <a:latin typeface="DM Sans"/>
              </a:rPr>
              <a:t>Lux Theme Tween Duration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9711" y="3290887"/>
            <a:ext cx="1162177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rgbClr val="2563EB"/>
                </a:solidFill>
                <a:latin typeface="Times New Roman" panose="02020603050405020304" pitchFamily="18" charset="0"/>
              </a:rPr>
              <a:t>1–2s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96300" y="4186237"/>
            <a:ext cx="34290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0" i="0" u="none">
                <a:solidFill>
                  <a:srgbClr val="475569"/>
                </a:solidFill>
                <a:latin typeface="DM Sans"/>
              </a:rPr>
              <a:t>GPS Velocity Poll Window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13358" y="2305050"/>
            <a:ext cx="196528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38BDF8"/>
                </a:solidFill>
                <a:latin typeface="Times New Roman" panose="02020603050405020304" pitchFamily="18" charset="0"/>
              </a:rPr>
              <a:t>CONCLUSION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98598" y="2647950"/>
            <a:ext cx="4194802" cy="6001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 dirty="0">
                <a:solidFill>
                  <a:srgbClr val="F8FAFC"/>
                </a:solidFill>
                <a:latin typeface="Times New Roman" panose="02020603050405020304" pitchFamily="18" charset="0"/>
              </a:rPr>
              <a:t>Thank You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875" y="3467100"/>
            <a:ext cx="80962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94A3B8"/>
                </a:solidFill>
                <a:latin typeface="DM Sans"/>
              </a:rPr>
              <a:t>Lifecycle-bound Compose state management delivers leak-free, responsive mobile sensor telemetry.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988" y="4324350"/>
            <a:ext cx="588187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E2E8F0"/>
                </a:solidFill>
                <a:latin typeface="DM Sans"/>
              </a:rPr>
              <a:t>Huỳnh Trung </a:t>
            </a:r>
            <a:r>
              <a:rPr sz="1350" b="0" i="0" u="none" dirty="0" err="1">
                <a:solidFill>
                  <a:srgbClr val="E2E8F0"/>
                </a:solidFill>
                <a:latin typeface="DM Sans"/>
              </a:rPr>
              <a:t>Tín</a:t>
            </a:r>
            <a:r>
              <a:rPr sz="1350" b="0" i="0" u="none" dirty="0">
                <a:solidFill>
                  <a:srgbClr val="E2E8F0"/>
                </a:solidFill>
                <a:latin typeface="DM Sans"/>
              </a:rPr>
              <a:t> (524K0033) • </a:t>
            </a:r>
            <a:r>
              <a:rPr sz="1350" b="0" i="0" u="none" dirty="0" err="1">
                <a:solidFill>
                  <a:srgbClr val="E2E8F0"/>
                </a:solidFill>
                <a:latin typeface="DM Sans"/>
              </a:rPr>
              <a:t>Trần</a:t>
            </a:r>
            <a:r>
              <a:rPr sz="1350" b="0" i="0" u="none" dirty="0">
                <a:solidFill>
                  <a:srgbClr val="E2E8F0"/>
                </a:solidFill>
                <a:latin typeface="DM Sans"/>
              </a:rPr>
              <a:t> Minh Nghĩa (524K0032)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552</Words>
  <Application>Microsoft Office PowerPoint</Application>
  <PresentationFormat>Widescreen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Times New Roman</vt:lpstr>
      <vt:lpstr>Calibri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 don't Know</cp:lastModifiedBy>
  <cp:revision>4</cp:revision>
  <dcterms:created xsi:type="dcterms:W3CDTF">2013-01-27T09:14:16Z</dcterms:created>
  <dcterms:modified xsi:type="dcterms:W3CDTF">2026-10-25T00:01:00Z</dcterms:modified>
  <cp:category/>
</cp:coreProperties>
</file>